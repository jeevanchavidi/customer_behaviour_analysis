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embeddedFontLst>
    <p:embeddedFont>
      <p:font typeface="Roboto" panose="02000000000000000000" pitchFamily="2" charset="0"/>
      <p:regular r:id="rId18"/>
    </p:embeddedFont>
    <p:embeddedFont>
      <p:font typeface="Roboto Slab" pitchFamily="2" charset="0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0" d="100"/>
          <a:sy n="130" d="100"/>
        </p:scale>
        <p:origin x="82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7-08T16:28:40.097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1,'34'2,"0"2,-1 2,1 0,43 16,-19-5,-35-12,-1 0,-1 1,1 1,-1 1,-1 0,27 15,-34-16,0-1,0-1,1 0,0 0,0-2,1 0,15 1,34 9,97 40,-77-24,-79-27,1 0,-1 0,1-1,0 0,-1 0,1 0,0-1,0 1,-1-1,1-1,11-1,-17 2,0 0,0 0,1 0,-1 0,0 0,0 0,1 0,-1-1,0 1,0 0,0 0,1 0,-1 0,0 0,0 0,0 0,1-1,-1 1,0 0,0 0,0 0,0 0,1-1,-1 1,0 0,0 0,0 0,0-1,0 1,0 0,0 0,0 0,0-1,0 1,0 0,0 0,0-1,0 1,0 0,0 0,0-1,0 1,0 0,0-1,-11-6,-18-2,-48-5,1-4,-134-49,198 61,0 1,0-2,0 0,1 0,0-1,0-1,1 0,0 0,0-1,-8-11,11 11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7-08T16:28:40.521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8T16:28:43.787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1596 328 0,'-1595'114'0,"2397"218"0,-1604-664 0,1548-110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7-08T16:28:44.793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2176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customXml" Target="../ink/ink3.xml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11" Type="http://schemas.openxmlformats.org/officeDocument/2006/relationships/customXml" Target="../ink/ink2.xml"/><Relationship Id="rId5" Type="http://schemas.openxmlformats.org/officeDocument/2006/relationships/image" Target="../media/image5.svg"/><Relationship Id="rId15" Type="http://schemas.openxmlformats.org/officeDocument/2006/relationships/customXml" Target="../ink/ink4.xml"/><Relationship Id="rId10" Type="http://schemas.openxmlformats.org/officeDocument/2006/relationships/image" Target="../media/image9.png"/><Relationship Id="rId4" Type="http://schemas.openxmlformats.org/officeDocument/2006/relationships/image" Target="../media/image4.svg"/><Relationship Id="rId9" Type="http://schemas.openxmlformats.org/officeDocument/2006/relationships/customXml" Target="../ink/ink1.xml"/><Relationship Id="rId1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svg"/><Relationship Id="rId4" Type="http://schemas.openxmlformats.org/officeDocument/2006/relationships/image" Target="../media/image21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svg"/><Relationship Id="rId4" Type="http://schemas.openxmlformats.org/officeDocument/2006/relationships/image" Target="../media/image31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svg"/><Relationship Id="rId4" Type="http://schemas.openxmlformats.org/officeDocument/2006/relationships/image" Target="../media/image34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460748"/>
            <a:ext cx="4722763" cy="132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E‑Commerce Analytics using Python, MySQL &amp; Power BI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3002310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11088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Roadmap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397794"/>
            <a:ext cx="141759" cy="141759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96119" y="1559496"/>
            <a:ext cx="4004965" cy="19050"/>
          </a:xfrm>
          <a:prstGeom prst="rect">
            <a:avLst/>
          </a:prstGeom>
          <a:solidFill>
            <a:srgbClr val="476FD6"/>
          </a:solidFill>
          <a:ln/>
        </p:spPr>
      </p:sp>
      <p:sp>
        <p:nvSpPr>
          <p:cNvPr id="5" name="Text 2"/>
          <p:cNvSpPr/>
          <p:nvPr/>
        </p:nvSpPr>
        <p:spPr>
          <a:xfrm>
            <a:off x="496119" y="1668438"/>
            <a:ext cx="40049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Introduction &amp; Problem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96119" y="1974949"/>
            <a:ext cx="40049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Context, motivation, and the business problem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2842" y="1397794"/>
            <a:ext cx="141759" cy="141759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642842" y="1559496"/>
            <a:ext cx="4005039" cy="19050"/>
          </a:xfrm>
          <a:prstGeom prst="rect">
            <a:avLst/>
          </a:prstGeom>
          <a:solidFill>
            <a:srgbClr val="476FD6"/>
          </a:solidFill>
          <a:ln/>
        </p:spPr>
      </p:sp>
      <p:sp>
        <p:nvSpPr>
          <p:cNvPr id="9" name="Text 5"/>
          <p:cNvSpPr/>
          <p:nvPr/>
        </p:nvSpPr>
        <p:spPr>
          <a:xfrm>
            <a:off x="4642842" y="1668438"/>
            <a:ext cx="400503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Dataset &amp; Objectives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4642842" y="1974949"/>
            <a:ext cx="400503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Source, schema, and project goals</a:t>
            </a:r>
            <a:endParaRPr lang="en-US" sz="11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2481635"/>
            <a:ext cx="141759" cy="141759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496119" y="2657475"/>
            <a:ext cx="4004965" cy="19050"/>
          </a:xfrm>
          <a:prstGeom prst="rect">
            <a:avLst/>
          </a:prstGeom>
          <a:solidFill>
            <a:srgbClr val="476FD6"/>
          </a:solidFill>
          <a:ln/>
        </p:spPr>
      </p:sp>
      <p:sp>
        <p:nvSpPr>
          <p:cNvPr id="13" name="Text 8"/>
          <p:cNvSpPr/>
          <p:nvPr/>
        </p:nvSpPr>
        <p:spPr>
          <a:xfrm>
            <a:off x="496119" y="2780630"/>
            <a:ext cx="40049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Python Pipeline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496119" y="3087142"/>
            <a:ext cx="40049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Loading, cleaning, feature engineering, validation</a:t>
            </a:r>
            <a:endParaRPr lang="en-US" sz="11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42842" y="2481635"/>
            <a:ext cx="141759" cy="141759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4642842" y="2657475"/>
            <a:ext cx="4005039" cy="19050"/>
          </a:xfrm>
          <a:prstGeom prst="rect">
            <a:avLst/>
          </a:prstGeom>
          <a:solidFill>
            <a:srgbClr val="476FD6"/>
          </a:solidFill>
          <a:ln/>
        </p:spPr>
      </p:sp>
      <p:sp>
        <p:nvSpPr>
          <p:cNvPr id="17" name="Text 11"/>
          <p:cNvSpPr/>
          <p:nvPr/>
        </p:nvSpPr>
        <p:spPr>
          <a:xfrm>
            <a:off x="4642842" y="2780630"/>
            <a:ext cx="400503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MySQL Integration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4642842" y="3087142"/>
            <a:ext cx="400503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Schema, ETL export, and business queries</a:t>
            </a:r>
            <a:endParaRPr lang="en-US" sz="11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119" y="3565475"/>
            <a:ext cx="141759" cy="141759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496119" y="3755529"/>
            <a:ext cx="4004965" cy="19050"/>
          </a:xfrm>
          <a:prstGeom prst="rect">
            <a:avLst/>
          </a:prstGeom>
          <a:solidFill>
            <a:srgbClr val="476FD6"/>
          </a:solidFill>
          <a:ln/>
        </p:spPr>
      </p:sp>
      <p:sp>
        <p:nvSpPr>
          <p:cNvPr id="21" name="Text 14"/>
          <p:cNvSpPr/>
          <p:nvPr/>
        </p:nvSpPr>
        <p:spPr>
          <a:xfrm>
            <a:off x="496119" y="3892823"/>
            <a:ext cx="40049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Power BI</a:t>
            </a:r>
            <a:endParaRPr lang="en-US" sz="1350" dirty="0"/>
          </a:p>
        </p:txBody>
      </p:sp>
      <p:sp>
        <p:nvSpPr>
          <p:cNvPr id="22" name="Text 15"/>
          <p:cNvSpPr/>
          <p:nvPr/>
        </p:nvSpPr>
        <p:spPr>
          <a:xfrm>
            <a:off x="496119" y="4199334"/>
            <a:ext cx="40049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Interactive dashboards &amp; KPI visualizations</a:t>
            </a:r>
            <a:endParaRPr lang="en-US" sz="110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42842" y="3565475"/>
            <a:ext cx="141759" cy="141759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4642842" y="3755529"/>
            <a:ext cx="4005039" cy="19050"/>
          </a:xfrm>
          <a:prstGeom prst="rect">
            <a:avLst/>
          </a:prstGeom>
          <a:solidFill>
            <a:srgbClr val="476FD6"/>
          </a:solidFill>
          <a:ln/>
        </p:spPr>
      </p:sp>
      <p:sp>
        <p:nvSpPr>
          <p:cNvPr id="25" name="Text 17"/>
          <p:cNvSpPr/>
          <p:nvPr/>
        </p:nvSpPr>
        <p:spPr>
          <a:xfrm>
            <a:off x="4642842" y="3892823"/>
            <a:ext cx="400503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Findings &amp; Recommendations</a:t>
            </a:r>
            <a:endParaRPr lang="en-US" sz="1350" dirty="0"/>
          </a:p>
        </p:txBody>
      </p:sp>
      <p:sp>
        <p:nvSpPr>
          <p:cNvPr id="26" name="Text 18"/>
          <p:cNvSpPr/>
          <p:nvPr/>
        </p:nvSpPr>
        <p:spPr>
          <a:xfrm>
            <a:off x="4642842" y="4199334"/>
            <a:ext cx="400503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Actionable business insights and next steps</a:t>
            </a:r>
            <a:endParaRPr lang="en-US" sz="11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136378F9-6F38-AD0D-E0BC-75A01405E6EF}"/>
                  </a:ext>
                </a:extLst>
              </p14:cNvPr>
              <p14:cNvContentPartPr/>
              <p14:nvPr/>
            </p14:nvContentPartPr>
            <p14:xfrm>
              <a:off x="8100434" y="4952695"/>
              <a:ext cx="348120" cy="9504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136378F9-6F38-AD0D-E0BC-75A01405E6EF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046794" y="4845055"/>
                <a:ext cx="455760" cy="31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E43E68A8-CDC3-789F-2858-D34C855D9B84}"/>
                  </a:ext>
                </a:extLst>
              </p14:cNvPr>
              <p14:cNvContentPartPr/>
              <p14:nvPr/>
            </p14:nvContentPartPr>
            <p14:xfrm>
              <a:off x="8252714" y="4958815"/>
              <a:ext cx="360" cy="3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E43E68A8-CDC3-789F-2858-D34C855D9B84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199074" y="4851175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6F67CF62-96B9-2E4F-8EAC-77DFE4A89D8C}"/>
                  </a:ext>
                </a:extLst>
              </p14:cNvPr>
              <p14:cNvContentPartPr/>
              <p14:nvPr/>
            </p14:nvContentPartPr>
            <p14:xfrm>
              <a:off x="8416874" y="4782055"/>
              <a:ext cx="574560" cy="27900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6F67CF62-96B9-2E4F-8EAC-77DFE4A89D8C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362874" y="4674055"/>
                <a:ext cx="682200" cy="49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EE5AC977-E209-337F-EE14-FF5D8A4FF549}"/>
                  </a:ext>
                </a:extLst>
              </p14:cNvPr>
              <p14:cNvContentPartPr/>
              <p14:nvPr/>
            </p14:nvContentPartPr>
            <p14:xfrm>
              <a:off x="8416874" y="4935415"/>
              <a:ext cx="360" cy="36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EE5AC977-E209-337F-EE14-FF5D8A4FF549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363234" y="4827415"/>
                <a:ext cx="108000" cy="216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922065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Introduction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1577653"/>
            <a:ext cx="47227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  E‑commerce analytics transforms raw transaction and customer data into     business value. This project analyzes customer behaviour to inform     acquisition, retention, and merchandising decisions using a full     end‑to‑end pipeline: CSV → Python → MySQL → Power BI.   </a:t>
            </a:r>
            <a:endParaRPr lang="en-US" sz="11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2644378"/>
            <a:ext cx="354360" cy="3543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27658" y="2644378"/>
            <a:ext cx="419122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Why customer behaviour?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1027658" y="2950890"/>
            <a:ext cx="419122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Drives segmentation, personalization, and lifetime value optimization.</a:t>
            </a:r>
            <a:endParaRPr lang="en-US" sz="11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3688035"/>
            <a:ext cx="354360" cy="35436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27658" y="3688035"/>
            <a:ext cx="419122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Why BI matters?</a:t>
            </a:r>
            <a:endParaRPr lang="en-US" sz="1350" dirty="0"/>
          </a:p>
        </p:txBody>
      </p:sp>
      <p:sp>
        <p:nvSpPr>
          <p:cNvPr id="10" name="Text 5"/>
          <p:cNvSpPr/>
          <p:nvPr/>
        </p:nvSpPr>
        <p:spPr>
          <a:xfrm>
            <a:off x="1027658" y="3994547"/>
            <a:ext cx="41912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Turns analytics into interactive insights for timely decisions.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42" y="1474589"/>
            <a:ext cx="3287241" cy="2194247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925119" y="1283122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Problem Statement</a:t>
            </a:r>
            <a:endParaRPr lang="en-US" sz="2750" dirty="0"/>
          </a:p>
        </p:txBody>
      </p:sp>
      <p:sp>
        <p:nvSpPr>
          <p:cNvPr id="5" name="Text 1"/>
          <p:cNvSpPr/>
          <p:nvPr/>
        </p:nvSpPr>
        <p:spPr>
          <a:xfrm>
            <a:off x="3925119" y="1938710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  Organizations collect large customer datasets that remain underutilized:     messy CSVs, missing values, inconsistent formats, no segmentation, and     static reports — leading to slow or poor decisions.   </a:t>
            </a:r>
            <a:endParaRPr lang="en-US" sz="1100" dirty="0"/>
          </a:p>
        </p:txBody>
      </p:sp>
      <p:sp>
        <p:nvSpPr>
          <p:cNvPr id="6" name="Shape 2"/>
          <p:cNvSpPr/>
          <p:nvPr/>
        </p:nvSpPr>
        <p:spPr>
          <a:xfrm>
            <a:off x="3925119" y="2778621"/>
            <a:ext cx="4722763" cy="1081757"/>
          </a:xfrm>
          <a:prstGeom prst="roundRect">
            <a:avLst>
              <a:gd name="adj" fmla="val 1966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4085927" y="2939430"/>
            <a:ext cx="44011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How this project addresses the gap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085927" y="3245941"/>
            <a:ext cx="440114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Builds a reproducible pipeline that cleans, enriches, validates and publishes data for SQL analytics and interactive BI.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6407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Project Objectives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990576"/>
            <a:ext cx="552450" cy="5524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25748" y="1990576"/>
            <a:ext cx="1175370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Customer Segmentation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225748" y="2518544"/>
            <a:ext cx="1175370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Group users by behaviour and value to enable targeted strategies.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8298" y="1990576"/>
            <a:ext cx="552450" cy="5524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307928" y="1990576"/>
            <a:ext cx="117544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Revenue Analysis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307928" y="2518544"/>
            <a:ext cx="117544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Identify revenue drivers and high‑value cohorts.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0553" y="1990576"/>
            <a:ext cx="552450" cy="5524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390183" y="1990576"/>
            <a:ext cx="117544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Subscription &amp; Shipping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5390183" y="2518544"/>
            <a:ext cx="1175445" cy="1360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Assess subscription uptake and shipping performance impact.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2807" y="1990576"/>
            <a:ext cx="552450" cy="5524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72437" y="1990576"/>
            <a:ext cx="117544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Interactive Dashboard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7472437" y="2518544"/>
            <a:ext cx="1175445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Deliver actionable KPIs and filters for business users.</a:t>
            </a:r>
            <a:endParaRPr lang="en-US" sz="1100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1EDA36B-BFFD-00EE-1D30-82A9BCE65AD3}"/>
              </a:ext>
            </a:extLst>
          </p:cNvPr>
          <p:cNvSpPr/>
          <p:nvPr/>
        </p:nvSpPr>
        <p:spPr>
          <a:xfrm>
            <a:off x="8065477" y="4870938"/>
            <a:ext cx="1014046" cy="193431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96937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Dataset Overview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363712"/>
            <a:ext cx="3071589" cy="307158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24339" y="1280071"/>
            <a:ext cx="262823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      Source: Provided CSV from project documentation. Key facts:       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024339" y="1861245"/>
            <a:ext cx="2628230" cy="14600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~3,900 customer records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18 columns: customer demographics, purchase details, ratings, subscription, shipping, discounts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Primary use: behavior, revenue and segmentation analysis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024339" y="3480718"/>
            <a:ext cx="2628230" cy="1006376"/>
          </a:xfrm>
          <a:prstGeom prst="roundRect">
            <a:avLst>
              <a:gd name="adj" fmla="val 2113"/>
            </a:avLst>
          </a:prstGeom>
          <a:solidFill>
            <a:srgbClr val="D7DFF4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6098" y="3695774"/>
            <a:ext cx="177180" cy="1417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85037" y="3643685"/>
            <a:ext cx="202577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 data fields and exact column names used as provided in the documentation.</a:t>
            </a:r>
            <a:endParaRPr lang="en-US" sz="11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3663072-FCB4-5AE4-D327-AD34DE77CC38}"/>
              </a:ext>
            </a:extLst>
          </p:cNvPr>
          <p:cNvSpPr/>
          <p:nvPr/>
        </p:nvSpPr>
        <p:spPr>
          <a:xfrm>
            <a:off x="8059615" y="4847492"/>
            <a:ext cx="1025770" cy="296008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7502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Technology Stack &amp; Rationale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501527"/>
            <a:ext cx="354360" cy="35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2033067"/>
            <a:ext cx="398725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Python (Pandas)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2339578"/>
            <a:ext cx="398725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Flexible data loading, cleaning, transformation, and feature engineering.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0553" y="1501527"/>
            <a:ext cx="354360" cy="3543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60553" y="2033067"/>
            <a:ext cx="39873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MySQL + SQLAlchemy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660553" y="2339578"/>
            <a:ext cx="39873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Persist validated dataset and run performant analytical queries.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3076724"/>
            <a:ext cx="354360" cy="3543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96119" y="3608263"/>
            <a:ext cx="398725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Power BI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496119" y="3914775"/>
            <a:ext cx="398725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Interactive dashboards, slicers, KPIs and story-driven visuals for stakeholders.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4678263" y="3069654"/>
            <a:ext cx="318864" cy="368498"/>
          </a:xfrm>
          <a:prstGeom prst="roundRect">
            <a:avLst>
              <a:gd name="adj" fmla="val 10754"/>
            </a:avLst>
          </a:prstGeom>
          <a:solidFill>
            <a:srgbClr val="DFDFE0"/>
          </a:solidFill>
          <a:ln/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49105" y="3178373"/>
            <a:ext cx="177180" cy="14175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660553" y="3608263"/>
            <a:ext cx="39873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Jupyter Notebook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4660553" y="3914775"/>
            <a:ext cx="398732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Reproducible development environment for stepwise transformation and validation.</a:t>
            </a:r>
            <a:endParaRPr lang="en-US" sz="1100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CB55DF9-720A-4ADF-2D82-13402BB0DB93}"/>
              </a:ext>
            </a:extLst>
          </p:cNvPr>
          <p:cNvSpPr/>
          <p:nvPr/>
        </p:nvSpPr>
        <p:spPr>
          <a:xfrm>
            <a:off x="8018585" y="4829908"/>
            <a:ext cx="1125415" cy="313592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34888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Execution Flow (Architecture)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641" y="1261393"/>
            <a:ext cx="7890644" cy="29609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002209" y="3503534"/>
            <a:ext cx="1190147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Power BI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502299" y="3503534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SQL Queries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010540" y="3388901"/>
            <a:ext cx="1190146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Export to MySQL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518781" y="3503534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Python ETL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94415" y="3503534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Raw CSV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96119" y="4381798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The diagram above represents an auditable, repeatable ETL pipeline that produces a production‑ready dataset for BI and analysis.</a:t>
            </a:r>
            <a:endParaRPr lang="en-US" sz="1100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C8732C0-77D3-DD27-D634-78BEDDFE7559}"/>
              </a:ext>
            </a:extLst>
          </p:cNvPr>
          <p:cNvSpPr/>
          <p:nvPr/>
        </p:nvSpPr>
        <p:spPr>
          <a:xfrm>
            <a:off x="8042031" y="4843417"/>
            <a:ext cx="1063051" cy="226814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Data Preprocessing &amp; Feature Engineering</a:t>
            </a:r>
            <a:endParaRPr lang="en-US" sz="1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302" y="764494"/>
            <a:ext cx="7552060" cy="42822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7809" y="1582740"/>
            <a:ext cx="1721125" cy="229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Load CSV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2183349" y="3624960"/>
            <a:ext cx="1721125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Inspect Schema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649993" y="1802450"/>
            <a:ext cx="1777040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Handle Missing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843050" y="4158760"/>
            <a:ext cx="1721125" cy="229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Impute &amp; Derive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370703" y="2052983"/>
            <a:ext cx="1721126" cy="458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Standardize &amp; Validate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96119" y="5328568"/>
            <a:ext cx="860896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Key transformations (as implemented in Python): median imputation for numeric gaps, domain rules for categorical fills, derived fields (AgeGroup, PurchaseFrequencyBucket), standardized column names, and final validation checks (record count, null audit).</a:t>
            </a:r>
            <a:endParaRPr lang="en-US" sz="550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52E6648-E5A0-CFD2-B1AA-D42F8F872FD5}"/>
              </a:ext>
            </a:extLst>
          </p:cNvPr>
          <p:cNvSpPr/>
          <p:nvPr/>
        </p:nvSpPr>
        <p:spPr>
          <a:xfrm>
            <a:off x="8018585" y="4766712"/>
            <a:ext cx="1086497" cy="376788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60846"/>
            <a:ext cx="8151763" cy="84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Python → MySQL → Power BI: Implementation Snapshot</a:t>
            </a:r>
            <a:endParaRPr lang="en-US" sz="2650" dirty="0"/>
          </a:p>
        </p:txBody>
      </p:sp>
      <p:sp>
        <p:nvSpPr>
          <p:cNvPr id="3" name="Shape 1"/>
          <p:cNvSpPr/>
          <p:nvPr/>
        </p:nvSpPr>
        <p:spPr>
          <a:xfrm>
            <a:off x="496119" y="1643509"/>
            <a:ext cx="1891159" cy="2894261"/>
          </a:xfrm>
          <a:prstGeom prst="roundRect">
            <a:avLst>
              <a:gd name="adj" fmla="val 1072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0230" y="1797621"/>
            <a:ext cx="158293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Python Tasks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50230" y="2137470"/>
            <a:ext cx="1582936" cy="2246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pd.read_csv → initial inspection</a:t>
            </a:r>
            <a:endParaRPr lang="en-US" sz="1050" dirty="0"/>
          </a:p>
          <a:p>
            <a:pPr marL="213360" indent="-213360" algn="l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Impute missing values (median/mode)</a:t>
            </a:r>
            <a:endParaRPr lang="en-US" sz="1050" dirty="0"/>
          </a:p>
          <a:p>
            <a:pPr marL="213360" indent="-213360" algn="l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Feature engineering: AgeGroup, Frequency, LTV proxies</a:t>
            </a:r>
            <a:endParaRPr lang="en-US" sz="1050" dirty="0"/>
          </a:p>
          <a:p>
            <a:pPr marL="213360" indent="-213360" algn="l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Validation: dtype checks, null counts, sample audits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516014" y="1643509"/>
            <a:ext cx="1891159" cy="2894261"/>
          </a:xfrm>
          <a:prstGeom prst="roundRect">
            <a:avLst>
              <a:gd name="adj" fmla="val 1072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70125" y="1797621"/>
            <a:ext cx="158293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Export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670125" y="2137470"/>
            <a:ext cx="1582936" cy="844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SQLAlchemy engine to upsert cleaned table into MySQL (customer_master, 3,900 rows)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41590" y="1643509"/>
            <a:ext cx="1891159" cy="2638127"/>
          </a:xfrm>
          <a:prstGeom prst="roundRect">
            <a:avLst>
              <a:gd name="adj" fmla="val 1072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5701" y="1797621"/>
            <a:ext cx="158293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MySQL Analysis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95701" y="2137470"/>
            <a:ext cx="1582936" cy="1990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Business queries: revenue by gender, age, product category</a:t>
            </a:r>
            <a:endParaRPr lang="en-US" sz="1050" dirty="0"/>
          </a:p>
          <a:p>
            <a:pPr marL="213360" indent="-213360" algn="l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Window functions for repeat buyers and RFM-like grouping</a:t>
            </a:r>
            <a:endParaRPr lang="en-US" sz="1050" dirty="0"/>
          </a:p>
          <a:p>
            <a:pPr marL="213360" indent="-213360" algn="l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Materialized views used as Power BI sources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761485" y="1643509"/>
            <a:ext cx="1891159" cy="2638127"/>
          </a:xfrm>
          <a:prstGeom prst="roundRect">
            <a:avLst>
              <a:gd name="adj" fmla="val 1072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15596" y="1797621"/>
            <a:ext cx="158293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Power BI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915596" y="2137470"/>
            <a:ext cx="1582936" cy="1055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Import SQL views, build star-like model, create KPIs, charts, slicers (date, category, age group), and publish interactive report.</a:t>
            </a:r>
            <a:endParaRPr lang="en-US" sz="1050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B3D5DA1-0C4D-956B-C8FD-1ECA7463F9DC}"/>
              </a:ext>
            </a:extLst>
          </p:cNvPr>
          <p:cNvSpPr/>
          <p:nvPr/>
        </p:nvSpPr>
        <p:spPr>
          <a:xfrm>
            <a:off x="8030308" y="4841631"/>
            <a:ext cx="1113692" cy="301869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22" y="1639714"/>
            <a:ext cx="3313881" cy="18640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925119" y="550366"/>
            <a:ext cx="4722763" cy="3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E-Commerce Analytics Dashboard</a:t>
            </a:r>
            <a:endParaRPr lang="en-US" sz="2250" dirty="0"/>
          </a:p>
        </p:txBody>
      </p:sp>
      <p:sp>
        <p:nvSpPr>
          <p:cNvPr id="5" name="Text 1"/>
          <p:cNvSpPr/>
          <p:nvPr/>
        </p:nvSpPr>
        <p:spPr>
          <a:xfrm>
            <a:off x="3925119" y="1108174"/>
            <a:ext cx="4722763" cy="380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231K</a:t>
            </a:r>
            <a:endParaRPr lang="en-US" sz="2950" dirty="0"/>
          </a:p>
        </p:txBody>
      </p:sp>
      <p:sp>
        <p:nvSpPr>
          <p:cNvPr id="6" name="Text 2"/>
          <p:cNvSpPr/>
          <p:nvPr/>
        </p:nvSpPr>
        <p:spPr>
          <a:xfrm>
            <a:off x="3925119" y="1615976"/>
            <a:ext cx="4722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Total Purchases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3925119" y="2040582"/>
            <a:ext cx="4722763" cy="380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99K</a:t>
            </a:r>
            <a:endParaRPr lang="en-US" sz="2950" dirty="0"/>
          </a:p>
        </p:txBody>
      </p:sp>
      <p:sp>
        <p:nvSpPr>
          <p:cNvPr id="8" name="Text 4"/>
          <p:cNvSpPr/>
          <p:nvPr/>
        </p:nvSpPr>
        <p:spPr>
          <a:xfrm>
            <a:off x="3925119" y="2548384"/>
            <a:ext cx="4722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Unique Purchases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3925119" y="2972991"/>
            <a:ext cx="4722763" cy="380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59.76</a:t>
            </a:r>
            <a:endParaRPr lang="en-US" sz="2950" dirty="0"/>
          </a:p>
        </p:txBody>
      </p:sp>
      <p:sp>
        <p:nvSpPr>
          <p:cNvPr id="10" name="Text 6"/>
          <p:cNvSpPr/>
          <p:nvPr/>
        </p:nvSpPr>
        <p:spPr>
          <a:xfrm>
            <a:off x="3925119" y="3480792"/>
            <a:ext cx="4722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Avg. Purchase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3925119" y="3905399"/>
            <a:ext cx="4722763" cy="380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3.75</a:t>
            </a:r>
            <a:endParaRPr lang="en-US" sz="2950" dirty="0"/>
          </a:p>
        </p:txBody>
      </p:sp>
      <p:sp>
        <p:nvSpPr>
          <p:cNvPr id="12" name="Text 8"/>
          <p:cNvSpPr/>
          <p:nvPr/>
        </p:nvSpPr>
        <p:spPr>
          <a:xfrm>
            <a:off x="3925119" y="4413200"/>
            <a:ext cx="4722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Avg. Online Rating</a:t>
            </a:r>
            <a:endParaRPr lang="en-US" sz="1100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C26744D-D6BF-D5FB-F170-9A89CCF7E052}"/>
              </a:ext>
            </a:extLst>
          </p:cNvPr>
          <p:cNvSpPr/>
          <p:nvPr/>
        </p:nvSpPr>
        <p:spPr>
          <a:xfrm>
            <a:off x="7989277" y="4818185"/>
            <a:ext cx="1154723" cy="26963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3684" y="1645965"/>
            <a:ext cx="3291632" cy="1851571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96119" y="419844"/>
            <a:ext cx="4722763" cy="858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Customer Segmentation Dashboard</a:t>
            </a:r>
            <a:endParaRPr lang="en-US" sz="2700" dirty="0"/>
          </a:p>
        </p:txBody>
      </p:sp>
      <p:sp>
        <p:nvSpPr>
          <p:cNvPr id="5" name="Text 1"/>
          <p:cNvSpPr/>
          <p:nvPr/>
        </p:nvSpPr>
        <p:spPr>
          <a:xfrm>
            <a:off x="496119" y="1546250"/>
            <a:ext cx="4722763" cy="453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5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99K</a:t>
            </a:r>
            <a:endParaRPr lang="en-US" sz="3550" dirty="0"/>
          </a:p>
        </p:txBody>
      </p:sp>
      <p:sp>
        <p:nvSpPr>
          <p:cNvPr id="6" name="Text 2"/>
          <p:cNvSpPr/>
          <p:nvPr/>
        </p:nvSpPr>
        <p:spPr>
          <a:xfrm>
            <a:off x="496119" y="2167756"/>
            <a:ext cx="4722763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Total unique customers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496119" y="2716932"/>
            <a:ext cx="4722763" cy="453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5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233K</a:t>
            </a:r>
            <a:endParaRPr lang="en-US" sz="3550" dirty="0"/>
          </a:p>
        </p:txBody>
      </p:sp>
      <p:sp>
        <p:nvSpPr>
          <p:cNvPr id="8" name="Text 4"/>
          <p:cNvSpPr/>
          <p:nvPr/>
        </p:nvSpPr>
        <p:spPr>
          <a:xfrm>
            <a:off x="496119" y="3338438"/>
            <a:ext cx="4722763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Total customers analyzed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496119" y="3887614"/>
            <a:ext cx="4722763" cy="453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5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4K</a:t>
            </a:r>
            <a:endParaRPr lang="en-US" sz="3550" dirty="0"/>
          </a:p>
        </p:txBody>
      </p:sp>
      <p:sp>
        <p:nvSpPr>
          <p:cNvPr id="10" name="Text 6"/>
          <p:cNvSpPr/>
          <p:nvPr/>
        </p:nvSpPr>
        <p:spPr>
          <a:xfrm>
            <a:off x="496119" y="4509120"/>
            <a:ext cx="4722763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High-value customer segment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5842" y="1647155"/>
            <a:ext cx="3287316" cy="184911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96119" y="736104"/>
            <a:ext cx="4722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Key Metrics:</a:t>
            </a:r>
            <a:endParaRPr lang="en-US" sz="1350" dirty="0"/>
          </a:p>
        </p:txBody>
      </p:sp>
      <p:sp>
        <p:nvSpPr>
          <p:cNvPr id="5" name="Text 1"/>
          <p:cNvSpPr/>
          <p:nvPr/>
        </p:nvSpPr>
        <p:spPr>
          <a:xfrm>
            <a:off x="496119" y="1014264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Sales Performance Dashboard</a:t>
            </a:r>
            <a:endParaRPr lang="en-US" sz="275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2112838"/>
            <a:ext cx="2290465" cy="1076399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733127" y="2273647"/>
            <a:ext cx="1892647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Average purchase amount</a:t>
            </a:r>
            <a:endParaRPr lang="en-US" sz="1350" dirty="0"/>
          </a:p>
        </p:txBody>
      </p:sp>
      <p:sp>
        <p:nvSpPr>
          <p:cNvPr id="8" name="Text 3"/>
          <p:cNvSpPr/>
          <p:nvPr/>
        </p:nvSpPr>
        <p:spPr>
          <a:xfrm>
            <a:off x="733127" y="2801615"/>
            <a:ext cx="18926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59.76</a:t>
            </a:r>
            <a:endParaRPr lang="en-US" sz="11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28342" y="2112838"/>
            <a:ext cx="2290539" cy="1076399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3165351" y="2273647"/>
            <a:ext cx="1892722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Average customer rating</a:t>
            </a:r>
            <a:endParaRPr lang="en-US" sz="1350" dirty="0"/>
          </a:p>
        </p:txBody>
      </p:sp>
      <p:sp>
        <p:nvSpPr>
          <p:cNvPr id="11" name="Text 5"/>
          <p:cNvSpPr/>
          <p:nvPr/>
        </p:nvSpPr>
        <p:spPr>
          <a:xfrm>
            <a:off x="3165351" y="2801615"/>
            <a:ext cx="18927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3.75</a:t>
            </a:r>
            <a:endParaRPr lang="en-US" sz="11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3330997"/>
            <a:ext cx="2290465" cy="1076399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733127" y="3491805"/>
            <a:ext cx="1892647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Total purchase frequency</a:t>
            </a:r>
            <a:endParaRPr lang="en-US" sz="1350" dirty="0"/>
          </a:p>
        </p:txBody>
      </p:sp>
      <p:sp>
        <p:nvSpPr>
          <p:cNvPr id="14" name="Text 7"/>
          <p:cNvSpPr/>
          <p:nvPr/>
        </p:nvSpPr>
        <p:spPr>
          <a:xfrm>
            <a:off x="733127" y="4019773"/>
            <a:ext cx="18926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348K</a:t>
            </a:r>
            <a:endParaRPr lang="en-US" sz="110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28342" y="3330997"/>
            <a:ext cx="2290539" cy="1076399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3165351" y="3491805"/>
            <a:ext cx="1892722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Total revenue generated</a:t>
            </a:r>
            <a:endParaRPr lang="en-US" sz="1350" dirty="0"/>
          </a:p>
        </p:txBody>
      </p:sp>
      <p:sp>
        <p:nvSpPr>
          <p:cNvPr id="17" name="Text 9"/>
          <p:cNvSpPr/>
          <p:nvPr/>
        </p:nvSpPr>
        <p:spPr>
          <a:xfrm>
            <a:off x="3165351" y="4019773"/>
            <a:ext cx="18927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8M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03" y="1642839"/>
            <a:ext cx="3302794" cy="1857821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925119" y="404961"/>
            <a:ext cx="4722763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Customer Behaviour Dashboard</a:t>
            </a:r>
            <a:endParaRPr lang="en-US" sz="2450" dirty="0"/>
          </a:p>
        </p:txBody>
      </p:sp>
      <p:sp>
        <p:nvSpPr>
          <p:cNvPr id="5" name="Text 1"/>
          <p:cNvSpPr/>
          <p:nvPr/>
        </p:nvSpPr>
        <p:spPr>
          <a:xfrm>
            <a:off x="3925119" y="844451"/>
            <a:ext cx="4722763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Key Metrics:</a:t>
            </a:r>
            <a:endParaRPr lang="en-US" sz="12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25119" y="1210345"/>
            <a:ext cx="4722763" cy="1101105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4065612" y="1715319"/>
            <a:ext cx="4441775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Total customer</a:t>
            </a:r>
            <a:endParaRPr lang="en-US" sz="1200" dirty="0"/>
          </a:p>
        </p:txBody>
      </p:sp>
      <p:sp>
        <p:nvSpPr>
          <p:cNvPr id="8" name="Text 3"/>
          <p:cNvSpPr/>
          <p:nvPr/>
        </p:nvSpPr>
        <p:spPr>
          <a:xfrm>
            <a:off x="4065612" y="1980009"/>
            <a:ext cx="4441775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records</a:t>
            </a:r>
            <a:endParaRPr lang="en-US" sz="95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25119" y="2423889"/>
            <a:ext cx="4722763" cy="1101105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4065612" y="2928863"/>
            <a:ext cx="4441775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Average purchase</a:t>
            </a:r>
            <a:endParaRPr lang="en-US" sz="1200" dirty="0"/>
          </a:p>
        </p:txBody>
      </p:sp>
      <p:sp>
        <p:nvSpPr>
          <p:cNvPr id="11" name="Text 5"/>
          <p:cNvSpPr/>
          <p:nvPr/>
        </p:nvSpPr>
        <p:spPr>
          <a:xfrm>
            <a:off x="4065612" y="3193554"/>
            <a:ext cx="4441775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value</a:t>
            </a:r>
            <a:endParaRPr lang="en-US" sz="95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25119" y="3637434"/>
            <a:ext cx="4722763" cy="1101105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4065612" y="4142408"/>
            <a:ext cx="4441775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Average satisfaction</a:t>
            </a:r>
            <a:endParaRPr lang="en-US" sz="1200" dirty="0"/>
          </a:p>
        </p:txBody>
      </p:sp>
      <p:sp>
        <p:nvSpPr>
          <p:cNvPr id="14" name="Text 7"/>
          <p:cNvSpPr/>
          <p:nvPr/>
        </p:nvSpPr>
        <p:spPr>
          <a:xfrm>
            <a:off x="4065612" y="4407098"/>
            <a:ext cx="4441775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rating</a:t>
            </a:r>
            <a:endParaRPr lang="en-US" sz="950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28D6EE2-0EA4-415A-2B9B-CB06ABDC5810}"/>
              </a:ext>
            </a:extLst>
          </p:cNvPr>
          <p:cNvSpPr/>
          <p:nvPr/>
        </p:nvSpPr>
        <p:spPr>
          <a:xfrm>
            <a:off x="8059616" y="4876800"/>
            <a:ext cx="1025770" cy="197272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9054"/>
            <a:ext cx="8151763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Key Findings &amp; Recommendations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496119" y="1088901"/>
            <a:ext cx="8608963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Main takeaways in simple terms.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96119" y="1573634"/>
            <a:ext cx="2469207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96119" y="1929631"/>
            <a:ext cx="2469207" cy="941561"/>
          </a:xfrm>
          <a:prstGeom prst="roundRect">
            <a:avLst>
              <a:gd name="adj" fmla="val 2153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0230" y="2083743"/>
            <a:ext cx="2160984" cy="633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☑</a:t>
            </a: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231K purchases, 99K unique buyers, and 4K top-value customers.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96119" y="2999929"/>
            <a:ext cx="2469207" cy="730448"/>
          </a:xfrm>
          <a:prstGeom prst="roundRect">
            <a:avLst>
              <a:gd name="adj" fmla="val 2775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0230" y="3154040"/>
            <a:ext cx="2160984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☑</a:t>
            </a: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Average purchase was $59.76 and average rating was 3.75.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96119" y="3859113"/>
            <a:ext cx="2469207" cy="730448"/>
          </a:xfrm>
          <a:prstGeom prst="roundRect">
            <a:avLst>
              <a:gd name="adj" fmla="val 2775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0230" y="4013225"/>
            <a:ext cx="2160984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☑</a:t>
            </a: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Sales reached 348K purchases and $8M in revenue.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299743" y="1573634"/>
            <a:ext cx="2553965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Strategic Recommendations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99743" y="1929631"/>
            <a:ext cx="2553965" cy="519336"/>
          </a:xfrm>
          <a:prstGeom prst="roundRect">
            <a:avLst>
              <a:gd name="adj" fmla="val 3903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53854" y="2083743"/>
            <a:ext cx="2245742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☑</a:t>
            </a: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Focus on your best customers.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99743" y="2577703"/>
            <a:ext cx="2553965" cy="519336"/>
          </a:xfrm>
          <a:prstGeom prst="roundRect">
            <a:avLst>
              <a:gd name="adj" fmla="val 3903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53854" y="2731815"/>
            <a:ext cx="2245742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☑</a:t>
            </a: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Encourage repeat buying.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99743" y="3225775"/>
            <a:ext cx="2553965" cy="519336"/>
          </a:xfrm>
          <a:prstGeom prst="roundRect">
            <a:avLst>
              <a:gd name="adj" fmla="val 3903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53854" y="3379887"/>
            <a:ext cx="2245742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☑</a:t>
            </a: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Promote what works best.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99743" y="3873847"/>
            <a:ext cx="2553965" cy="519336"/>
          </a:xfrm>
          <a:prstGeom prst="roundRect">
            <a:avLst>
              <a:gd name="adj" fmla="val 3903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53854" y="4027959"/>
            <a:ext cx="2245742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☑</a:t>
            </a: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Plan ahead for busy times.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188125" y="1573634"/>
            <a:ext cx="2469207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Technical Achievements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88125" y="1929631"/>
            <a:ext cx="2469207" cy="519336"/>
          </a:xfrm>
          <a:prstGeom prst="roundRect">
            <a:avLst>
              <a:gd name="adj" fmla="val 3903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42236" y="2083743"/>
            <a:ext cx="2160984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☑</a:t>
            </a: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Combined the data in one place.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188125" y="2577703"/>
            <a:ext cx="2469207" cy="519336"/>
          </a:xfrm>
          <a:prstGeom prst="roundRect">
            <a:avLst>
              <a:gd name="adj" fmla="val 3903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42236" y="2731815"/>
            <a:ext cx="2160984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☑</a:t>
            </a: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Made the results easy to read.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188125" y="3225775"/>
            <a:ext cx="2469207" cy="519336"/>
          </a:xfrm>
          <a:prstGeom prst="roundRect">
            <a:avLst>
              <a:gd name="adj" fmla="val 3903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42236" y="3379887"/>
            <a:ext cx="2160984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☑</a:t>
            </a: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Found the main drivers of sales.</a:t>
            </a:r>
            <a:endParaRPr lang="en-US" sz="1050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D16BD570-27D8-E2CD-012E-DD9521F5C723}"/>
              </a:ext>
            </a:extLst>
          </p:cNvPr>
          <p:cNvSpPr/>
          <p:nvPr/>
        </p:nvSpPr>
        <p:spPr>
          <a:xfrm>
            <a:off x="8059615" y="4771292"/>
            <a:ext cx="1045467" cy="372208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775</Words>
  <Application>Microsoft Office PowerPoint</Application>
  <PresentationFormat>On-screen Show (16:9)</PresentationFormat>
  <Paragraphs>141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Roboto Slab</vt:lpstr>
      <vt:lpstr>Roboto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Jeevan Chavidi</cp:lastModifiedBy>
  <cp:revision>4</cp:revision>
  <dcterms:created xsi:type="dcterms:W3CDTF">2026-07-08T14:38:26Z</dcterms:created>
  <dcterms:modified xsi:type="dcterms:W3CDTF">2026-07-09T03:13:12Z</dcterms:modified>
</cp:coreProperties>
</file>